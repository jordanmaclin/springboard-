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3E0801-1471-490B-8978-BAC93AA2F4F6}">
  <a:tblStyle styleId="{E53E0801-1471-490B-8978-BAC93AA2F4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0f62de0f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0f62de0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0f62de0f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0f62de0f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0f62de0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0f62de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0f62de0f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0f62de0f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Gym Churn Data Story</a:t>
            </a:r>
            <a:endParaRPr sz="36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Jordan Maclin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Customer churn (customers leaving the gym) significantly impacts profitability. We needed to identify the key </a:t>
            </a:r>
            <a:r>
              <a:rPr lang="en" sz="1600">
                <a:solidFill>
                  <a:schemeClr val="dk1"/>
                </a:solidFill>
              </a:rPr>
              <a:t>factors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driving churn to develop effective retention strategies.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dataset includes various customer features, such as demographics, contract details, and gym usage. Our target variable is </a:t>
            </a:r>
            <a:r>
              <a:rPr b="1" lang="en" sz="1600">
                <a:solidFill>
                  <a:schemeClr val="dk1"/>
                </a:solidFill>
              </a:rPr>
              <a:t>Churn</a:t>
            </a:r>
            <a:r>
              <a:rPr lang="en" sz="1600">
                <a:solidFill>
                  <a:schemeClr val="dk1"/>
                </a:solidFill>
              </a:rPr>
              <a:t> (where </a:t>
            </a:r>
            <a:r>
              <a:rPr b="1" lang="en" sz="1600">
                <a:solidFill>
                  <a:schemeClr val="dk1"/>
                </a:solidFill>
              </a:rPr>
              <a:t>‘1’ </a:t>
            </a:r>
            <a:r>
              <a:rPr lang="en" sz="1600">
                <a:solidFill>
                  <a:schemeClr val="dk1"/>
                </a:solidFill>
              </a:rPr>
              <a:t>indicates the customer has left, and </a:t>
            </a:r>
            <a:r>
              <a:rPr b="1" lang="en" sz="1600">
                <a:solidFill>
                  <a:schemeClr val="dk1"/>
                </a:solidFill>
              </a:rPr>
              <a:t>‘0’</a:t>
            </a:r>
            <a:r>
              <a:rPr lang="en" sz="1600">
                <a:solidFill>
                  <a:schemeClr val="dk1"/>
                </a:solidFill>
              </a:rPr>
              <a:t> indicates they are retained).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311700" y="232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graphicFrame>
        <p:nvGraphicFramePr>
          <p:cNvPr id="290" name="Google Shape;290;p15"/>
          <p:cNvGraphicFramePr/>
          <p:nvPr/>
        </p:nvGraphicFramePr>
        <p:xfrm>
          <a:off x="1108775" y="156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{E53E0801-1471-490B-8978-BAC93AA2F4F6}</a:tableStyleId>
              </a:tblPr>
              <a:tblGrid>
                <a:gridCol w="2200600"/>
                <a:gridCol w="2200600"/>
                <a:gridCol w="2200600"/>
              </a:tblGrid>
              <a:tr h="44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Correlation with churn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Interpretation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6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Lifetime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-0.438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 longer a customer has been with the gym, the less likely they are to churn.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7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Avg_class_frequency_current_month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-0.412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Higher average weekly class attendance in the current month is strongly associated with retention.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-0.405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Older customers are less likely to churn.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6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Contract_period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Customers with longer contract periods (e.g., 6 or 12 months) are less likely to churn.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Month_to_end_contract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-0.381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/>
                        <a:t>Having more months left on the contract is associated with lower churn.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15"/>
          <p:cNvSpPr txBox="1"/>
          <p:nvPr/>
        </p:nvSpPr>
        <p:spPr>
          <a:xfrm>
            <a:off x="1048450" y="805400"/>
            <a:ext cx="71067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 analyzed the correlation of all features with the 'Churn' variable. A </a:t>
            </a:r>
            <a:r>
              <a:rPr b="1" lang="en" sz="1100">
                <a:solidFill>
                  <a:schemeClr val="dk1"/>
                </a:solidFill>
              </a:rPr>
              <a:t>negative correlation</a:t>
            </a:r>
            <a:r>
              <a:rPr lang="en" sz="1100">
                <a:solidFill>
                  <a:schemeClr val="dk1"/>
                </a:solidFill>
              </a:rPr>
              <a:t> is good, as it means the feature is associated with </a:t>
            </a:r>
            <a:r>
              <a:rPr b="1" lang="en" sz="1100">
                <a:solidFill>
                  <a:schemeClr val="dk1"/>
                </a:solidFill>
              </a:rPr>
              <a:t>retention</a:t>
            </a:r>
            <a:r>
              <a:rPr lang="en" sz="1100">
                <a:solidFill>
                  <a:schemeClr val="dk1"/>
                </a:solidFill>
              </a:rPr>
              <a:t> (low churn). The features with the strongest negative correlation (strongest indicators of retention and therefore most protective against churn) are: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7710575" y="2007900"/>
            <a:ext cx="14997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Factors like </a:t>
            </a:r>
            <a:r>
              <a:rPr b="1" lang="en" sz="1100">
                <a:solidFill>
                  <a:schemeClr val="dk1"/>
                </a:solidFill>
              </a:rPr>
              <a:t>gender</a:t>
            </a:r>
            <a:r>
              <a:rPr lang="en" sz="1100">
                <a:solidFill>
                  <a:schemeClr val="dk1"/>
                </a:solidFill>
              </a:rPr>
              <a:t> ($0.0007$) and whether they have a </a:t>
            </a:r>
            <a:r>
              <a:rPr b="1" lang="en" sz="1100">
                <a:solidFill>
                  <a:schemeClr val="dk1"/>
                </a:solidFill>
              </a:rPr>
              <a:t>Phone</a:t>
            </a:r>
            <a:r>
              <a:rPr lang="en" sz="1100">
                <a:solidFill>
                  <a:schemeClr val="dk1"/>
                </a:solidFill>
              </a:rPr>
              <a:t> ($-0.0012$) show practically </a:t>
            </a:r>
            <a:r>
              <a:rPr b="1" lang="en" sz="1100">
                <a:solidFill>
                  <a:schemeClr val="dk1"/>
                </a:solidFill>
              </a:rPr>
              <a:t>no correlation</a:t>
            </a:r>
            <a:r>
              <a:rPr lang="en" sz="1100">
                <a:solidFill>
                  <a:schemeClr val="dk1"/>
                </a:solidFill>
              </a:rPr>
              <a:t> with churn.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244925" y="295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the Differences</a:t>
            </a:r>
            <a:endParaRPr/>
          </a:p>
        </p:txBody>
      </p:sp>
      <p:pic>
        <p:nvPicPr>
          <p:cNvPr id="298" name="Google Shape;298;p16" title="Code_Generated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50" y="784900"/>
            <a:ext cx="8354752" cy="23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 txBox="1"/>
          <p:nvPr/>
        </p:nvSpPr>
        <p:spPr>
          <a:xfrm>
            <a:off x="248575" y="3322700"/>
            <a:ext cx="29892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1. Lifetime vs. Churn</a:t>
            </a:r>
            <a:endParaRPr sz="1000"/>
          </a:p>
          <a:p>
            <a:pPr indent="-2794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Churned customers have an extremely short Lifetime, with a median of about 2 months.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Retained customers have a much longer Lifetime, with a median of about 5 months.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This indicates that customers who are going to churn typically do so early in their membership.</a:t>
            </a:r>
            <a:endParaRPr sz="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3211350" y="3322700"/>
            <a:ext cx="2897700" cy="1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2. Class Frequency (Current Month) vs. Churn</a:t>
            </a:r>
            <a:endParaRPr sz="1000"/>
          </a:p>
          <a:p>
            <a:pPr indent="-2794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Churned customers attend significantly fewer classes, with a median average frequency of around 0.4 classes per week in the current month.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Retained customers attend far more classes, with a median average frequency of about 1.6 classes per week.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A drop in recent class attendance is a strong immediate warning sign of impending churn.</a:t>
            </a:r>
            <a:endParaRPr sz="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6076375" y="3322700"/>
            <a:ext cx="2943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3. Churn Rate by Contract Period</a:t>
            </a:r>
            <a:endParaRPr sz="1000"/>
          </a:p>
          <a:p>
            <a:pPr indent="-2794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Customers on a 1-month contract have a massive 44% churn rate.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Customers on a 6-month contract have a significantly lower churn rate of 18%.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Customers on a 2-month contract have the lowest churn rate at 4%.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Longer contract commitment is the single most effective contractual measure against churn.</a:t>
            </a:r>
            <a:endParaRPr sz="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Recommendations</a:t>
            </a:r>
            <a:endParaRPr/>
          </a:p>
        </p:txBody>
      </p:sp>
      <p:sp>
        <p:nvSpPr>
          <p:cNvPr id="307" name="Google Shape;307;p17"/>
          <p:cNvSpPr txBox="1"/>
          <p:nvPr>
            <p:ph idx="1" type="body"/>
          </p:nvPr>
        </p:nvSpPr>
        <p:spPr>
          <a:xfrm>
            <a:off x="1303800" y="1669550"/>
            <a:ext cx="7030500" cy="32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 story leads to a clear understanding of the </a:t>
            </a:r>
            <a:r>
              <a:rPr b="1" i="1"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"at-risk"</a:t>
            </a:r>
            <a:r>
              <a:rPr i="1"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customer profile and suggests immediate action points:</a:t>
            </a:r>
            <a:endParaRPr b="1" i="1" sz="14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Focus on Early Engagement (Lifetime)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Hypothesis: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a customer stays past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3-month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mark, their retention probability increases dramatically.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 an intensive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90-day onboarding program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all new members to ensure they establish a gym-going habit and feel a sense of community.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Monitor Usage Drop (Avg_class_frequency_current_month)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Hypothesis: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sharp decline in current month class frequency is a critical predictor of churn.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Set up an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 system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flag members whose weekly class frequency drops below approximately 0.5 in the last four weeks.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Proactive intervention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a personalized call, a free personal training session, or an attendance challenge) should be triggered immediately for these customers.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Prioritize Longer Contracts (Contract_period)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Hypothesis: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Longer contracts create a necessary commitment that prevents early attrition.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Design membership plans and promotional offers to strongly incentivize customers to sign up for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 or 12-month contracts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 the month-to-month option.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